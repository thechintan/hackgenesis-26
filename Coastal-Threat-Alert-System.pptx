
<file path=[Content_Types].xml><?xml version="1.0" encoding="utf-8"?>
<Types xmlns="http://schemas.openxmlformats.org/package/2006/content-types">
  <Default ContentType="image/svg+xml" Extension="sv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8229600" cx="14630400"/>
  <p:notesSz cx="8229600" cy="14630400"/>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42429">
              <a:alpha val="80000"/>
            </a:srgbClr>
          </a:solidFill>
          <a:ln/>
        </p:spPr>
      </p:sp>
      <p:sp>
        <p:nvSpPr>
          <p:cNvPr id="4" name="Text 1"/>
          <p:cNvSpPr/>
          <p:nvPr/>
        </p:nvSpPr>
        <p:spPr>
          <a:xfrm>
            <a:off x="865227" y="1605915"/>
            <a:ext cx="8067794" cy="771525"/>
          </a:xfrm>
          <a:prstGeom prst="rect">
            <a:avLst/>
          </a:prstGeom>
          <a:noFill/>
          <a:ln/>
        </p:spPr>
        <p:txBody>
          <a:bodyPr wrap="none" lIns="0" tIns="0" rIns="0" bIns="0" rtlCol="0" anchor="t"/>
          <a:lstStyle/>
          <a:p>
            <a:pPr algn="l" indent="0" marL="0">
              <a:lnSpc>
                <a:spcPts val="6050"/>
              </a:lnSpc>
              <a:buNone/>
            </a:pPr>
            <a:r>
              <a:rPr lang="en-US" sz="4850" dirty="0">
                <a:solidFill>
                  <a:srgbClr val="EFD5FA"/>
                </a:solidFill>
                <a:latin typeface="Instrument Sans Medium" pitchFamily="34" charset="0"/>
                <a:ea typeface="Instrument Sans Medium" pitchFamily="34" charset="-122"/>
                <a:cs typeface="Instrument Sans Medium" pitchFamily="34" charset="-120"/>
              </a:rPr>
              <a:t>Coastal Threat Alert System</a:t>
            </a:r>
            <a:endParaRPr lang="en-US" sz="4850" dirty="0"/>
          </a:p>
        </p:txBody>
      </p:sp>
      <p:sp>
        <p:nvSpPr>
          <p:cNvPr id="5" name="Text 2"/>
          <p:cNvSpPr/>
          <p:nvPr/>
        </p:nvSpPr>
        <p:spPr>
          <a:xfrm>
            <a:off x="865227" y="2747724"/>
            <a:ext cx="12899827" cy="395049"/>
          </a:xfrm>
          <a:prstGeom prst="rect">
            <a:avLst/>
          </a:prstGeom>
          <a:noFill/>
          <a:ln/>
        </p:spPr>
        <p:txBody>
          <a:bodyPr wrap="none" lIns="0" tIns="0" rIns="0" bIns="0" rtlCol="0" anchor="t"/>
          <a:lstStyle/>
          <a:p>
            <a:pPr algn="l" indent="0" marL="0">
              <a:lnSpc>
                <a:spcPts val="3100"/>
              </a:lnSpc>
              <a:buNone/>
            </a:pPr>
            <a:r>
              <a:rPr lang="en-US" sz="1900" dirty="0">
                <a:solidFill>
                  <a:srgbClr val="C7CDD6"/>
                </a:solidFill>
                <a:latin typeface="Inter" pitchFamily="34" charset="0"/>
                <a:ea typeface="Inter" pitchFamily="34" charset="-122"/>
                <a:cs typeface="Inter" pitchFamily="34" charset="-120"/>
              </a:rPr>
              <a:t>Presented by: Team Code4India (Chintan Boghani, Man Varmora, Dev Prajapati, Hiren Gamara).</a:t>
            </a:r>
            <a:endParaRPr lang="en-US" sz="1900" dirty="0"/>
          </a:p>
        </p:txBody>
      </p:sp>
      <p:sp>
        <p:nvSpPr>
          <p:cNvPr id="6" name="Text 3"/>
          <p:cNvSpPr/>
          <p:nvPr/>
        </p:nvSpPr>
        <p:spPr>
          <a:xfrm>
            <a:off x="1235512" y="3698081"/>
            <a:ext cx="12529542" cy="790099"/>
          </a:xfrm>
          <a:prstGeom prst="rect">
            <a:avLst/>
          </a:prstGeom>
          <a:noFill/>
          <a:ln/>
        </p:spPr>
        <p:txBody>
          <a:bodyPr wrap="square" lIns="0" tIns="0" rIns="0" bIns="0" rtlCol="0" anchor="t"/>
          <a:lstStyle/>
          <a:p>
            <a:pPr algn="l" indent="0" marL="0">
              <a:lnSpc>
                <a:spcPts val="3100"/>
              </a:lnSpc>
              <a:buNone/>
            </a:pPr>
            <a:r>
              <a:rPr lang="en-US" sz="1900" dirty="0">
                <a:solidFill>
                  <a:srgbClr val="C7CDD6"/>
                </a:solidFill>
                <a:latin typeface="Inter" pitchFamily="34" charset="0"/>
                <a:ea typeface="Inter" pitchFamily="34" charset="-122"/>
                <a:cs typeface="Inter" pitchFamily="34" charset="-120"/>
              </a:rPr>
              <a:t>Our mission is to create a proactive system designed to identify and predict natural and human-made hazards in vulnerable coastal areas.</a:t>
            </a:r>
            <a:endParaRPr lang="en-US" sz="1900" dirty="0"/>
          </a:p>
        </p:txBody>
      </p:sp>
      <p:sp>
        <p:nvSpPr>
          <p:cNvPr id="7" name="Shape 4"/>
          <p:cNvSpPr/>
          <p:nvPr/>
        </p:nvSpPr>
        <p:spPr>
          <a:xfrm>
            <a:off x="865227" y="3420428"/>
            <a:ext cx="30480" cy="1345406"/>
          </a:xfrm>
          <a:prstGeom prst="rect">
            <a:avLst/>
          </a:prstGeom>
          <a:solidFill>
            <a:srgbClr val="FDC4C4"/>
          </a:solidFill>
          <a:ln/>
        </p:spPr>
      </p:sp>
      <p:sp>
        <p:nvSpPr>
          <p:cNvPr id="8" name="Text 5"/>
          <p:cNvSpPr/>
          <p:nvPr/>
        </p:nvSpPr>
        <p:spPr>
          <a:xfrm>
            <a:off x="865227" y="5043488"/>
            <a:ext cx="12899827" cy="1580198"/>
          </a:xfrm>
          <a:prstGeom prst="rect">
            <a:avLst/>
          </a:prstGeom>
          <a:noFill/>
          <a:ln/>
        </p:spPr>
        <p:txBody>
          <a:bodyPr wrap="square" lIns="0" tIns="0" rIns="0" bIns="0" rtlCol="0" anchor="t"/>
          <a:lstStyle/>
          <a:p>
            <a:pPr algn="l" indent="0" marL="0">
              <a:lnSpc>
                <a:spcPts val="3100"/>
              </a:lnSpc>
              <a:buNone/>
            </a:pPr>
            <a:r>
              <a:rPr lang="en-US" sz="1900" dirty="0">
                <a:solidFill>
                  <a:srgbClr val="C7CDD6"/>
                </a:solidFill>
                <a:latin typeface="Inter" pitchFamily="34" charset="0"/>
                <a:ea typeface="Inter" pitchFamily="34" charset="-122"/>
                <a:cs typeface="Inter" pitchFamily="34" charset="-120"/>
              </a:rPr>
              <a:t>This innovative system is engineered for the real-time detection of impending storms, rising sea levels, and critical environmental threats such as illegal dumping. Our goal is to safeguard lives, protect livelihoods, and preserve the invaluable ecosystems of our coastlines, ensuring the resilience and well-being of coastal communities.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450663" y="511969"/>
            <a:ext cx="7083147" cy="581858"/>
          </a:xfrm>
          <a:prstGeom prst="rect">
            <a:avLst/>
          </a:prstGeom>
          <a:noFill/>
          <a:ln/>
        </p:spPr>
        <p:txBody>
          <a:bodyPr wrap="none" lIns="0" tIns="0" rIns="0" bIns="0" rtlCol="0" anchor="t"/>
          <a:lstStyle/>
          <a:p>
            <a:pPr algn="l" indent="0" marL="0">
              <a:lnSpc>
                <a:spcPts val="4550"/>
              </a:lnSpc>
              <a:buNone/>
            </a:pPr>
            <a:r>
              <a:rPr lang="en-US" sz="3650" dirty="0">
                <a:solidFill>
                  <a:srgbClr val="EFD5FA"/>
                </a:solidFill>
                <a:latin typeface="Instrument Sans Medium" pitchFamily="34" charset="0"/>
                <a:ea typeface="Instrument Sans Medium" pitchFamily="34" charset="-122"/>
                <a:cs typeface="Instrument Sans Medium" pitchFamily="34" charset="-120"/>
              </a:rPr>
              <a:t>Key Objectives &amp; Data Collection</a:t>
            </a:r>
            <a:endParaRPr lang="en-US" sz="3650" dirty="0"/>
          </a:p>
        </p:txBody>
      </p:sp>
      <p:sp>
        <p:nvSpPr>
          <p:cNvPr id="3" name="Shape 1"/>
          <p:cNvSpPr/>
          <p:nvPr/>
        </p:nvSpPr>
        <p:spPr>
          <a:xfrm>
            <a:off x="2450663" y="1745337"/>
            <a:ext cx="4771430" cy="2268498"/>
          </a:xfrm>
          <a:prstGeom prst="roundRect">
            <a:avLst>
              <a:gd name="adj" fmla="val 4837"/>
            </a:avLst>
          </a:prstGeom>
          <a:solidFill>
            <a:srgbClr val="242429"/>
          </a:solidFill>
          <a:ln/>
        </p:spPr>
      </p:sp>
      <p:sp>
        <p:nvSpPr>
          <p:cNvPr id="4" name="Shape 2"/>
          <p:cNvSpPr/>
          <p:nvPr/>
        </p:nvSpPr>
        <p:spPr>
          <a:xfrm>
            <a:off x="2450663" y="1722477"/>
            <a:ext cx="4771430" cy="91440"/>
          </a:xfrm>
          <a:prstGeom prst="roundRect">
            <a:avLst>
              <a:gd name="adj" fmla="val 30545"/>
            </a:avLst>
          </a:prstGeom>
          <a:solidFill>
            <a:srgbClr val="FDC4C4"/>
          </a:solidFill>
          <a:ln/>
        </p:spPr>
      </p:sp>
      <p:sp>
        <p:nvSpPr>
          <p:cNvPr id="5" name="Shape 3"/>
          <p:cNvSpPr/>
          <p:nvPr/>
        </p:nvSpPr>
        <p:spPr>
          <a:xfrm>
            <a:off x="4557058" y="1466136"/>
            <a:ext cx="558522" cy="558522"/>
          </a:xfrm>
          <a:prstGeom prst="roundRect">
            <a:avLst>
              <a:gd name="adj" fmla="val 163718"/>
            </a:avLst>
          </a:prstGeom>
          <a:solidFill>
            <a:srgbClr val="FDC4C4"/>
          </a:solidFill>
          <a:ln/>
        </p:spPr>
      </p:sp>
      <p:sp>
        <p:nvSpPr>
          <p:cNvPr id="6" name="Text 4"/>
          <p:cNvSpPr/>
          <p:nvPr/>
        </p:nvSpPr>
        <p:spPr>
          <a:xfrm>
            <a:off x="4724579" y="1605796"/>
            <a:ext cx="223361" cy="279202"/>
          </a:xfrm>
          <a:prstGeom prst="rect">
            <a:avLst/>
          </a:prstGeom>
          <a:noFill/>
          <a:ln/>
        </p:spPr>
        <p:txBody>
          <a:bodyPr wrap="none" lIns="0" tIns="0" rIns="0" bIns="0" rtlCol="0" anchor="t"/>
          <a:lstStyle/>
          <a:p>
            <a:pPr algn="l" indent="0" marL="0">
              <a:lnSpc>
                <a:spcPts val="2800"/>
              </a:lnSpc>
              <a:buNone/>
            </a:pPr>
            <a:r>
              <a:rPr lang="en-US" sz="1750" dirty="0">
                <a:solidFill>
                  <a:srgbClr val="000000"/>
                </a:solidFill>
                <a:latin typeface="Instrument Sans Medium" pitchFamily="34" charset="0"/>
                <a:ea typeface="Instrument Sans Medium" pitchFamily="34" charset="-122"/>
                <a:cs typeface="Instrument Sans Medium" pitchFamily="34" charset="-120"/>
              </a:rPr>
              <a:t>1</a:t>
            </a:r>
            <a:endParaRPr lang="en-US" sz="1750" dirty="0"/>
          </a:p>
        </p:txBody>
      </p:sp>
      <p:sp>
        <p:nvSpPr>
          <p:cNvPr id="7" name="Text 5"/>
          <p:cNvSpPr/>
          <p:nvPr/>
        </p:nvSpPr>
        <p:spPr>
          <a:xfrm>
            <a:off x="2659618" y="2210753"/>
            <a:ext cx="3915251" cy="290870"/>
          </a:xfrm>
          <a:prstGeom prst="rect">
            <a:avLst/>
          </a:prstGeom>
          <a:noFill/>
          <a:ln/>
        </p:spPr>
        <p:txBody>
          <a:bodyPr wrap="none" lIns="0" tIns="0" rIns="0" bIns="0" rtlCol="0" anchor="t"/>
          <a:lstStyle/>
          <a:p>
            <a:pPr algn="l" indent="0" marL="0">
              <a:lnSpc>
                <a:spcPts val="2250"/>
              </a:lnSpc>
              <a:buNone/>
            </a:pPr>
            <a:r>
              <a:rPr lang="en-US" sz="1800" dirty="0">
                <a:solidFill>
                  <a:srgbClr val="C7CDD6"/>
                </a:solidFill>
                <a:latin typeface="Instrument Sans Medium" pitchFamily="34" charset="0"/>
                <a:ea typeface="Instrument Sans Medium" pitchFamily="34" charset="-122"/>
                <a:cs typeface="Instrument Sans Medium" pitchFamily="34" charset="-120"/>
              </a:rPr>
              <a:t>Real-time Hazard Detection &amp; Alerts</a:t>
            </a:r>
            <a:endParaRPr lang="en-US" sz="1800" dirty="0"/>
          </a:p>
        </p:txBody>
      </p:sp>
      <p:sp>
        <p:nvSpPr>
          <p:cNvPr id="8" name="Text 6"/>
          <p:cNvSpPr/>
          <p:nvPr/>
        </p:nvSpPr>
        <p:spPr>
          <a:xfrm>
            <a:off x="2659618" y="2613303"/>
            <a:ext cx="4353520" cy="1191577"/>
          </a:xfrm>
          <a:prstGeom prst="rect">
            <a:avLst/>
          </a:prstGeom>
          <a:noFill/>
          <a:ln/>
        </p:spPr>
        <p:txBody>
          <a:bodyPr wrap="square" lIns="0" tIns="0" rIns="0" bIns="0" rtlCol="0" anchor="t"/>
          <a:lstStyle/>
          <a:p>
            <a:pPr algn="l" indent="0" marL="0">
              <a:lnSpc>
                <a:spcPts val="2300"/>
              </a:lnSpc>
              <a:buNone/>
            </a:pPr>
            <a:r>
              <a:rPr lang="en-US" sz="1450" dirty="0">
                <a:solidFill>
                  <a:srgbClr val="C7CDD6"/>
                </a:solidFill>
                <a:latin typeface="Inter" pitchFamily="34" charset="0"/>
                <a:ea typeface="Inter" pitchFamily="34" charset="-122"/>
                <a:cs typeface="Inter" pitchFamily="34" charset="-120"/>
              </a:rPr>
              <a:t>Our primary objective is to detect hazards the moment they occur and deliver instant alerts through multiple channels, including SMS, push notifications, and dedicated web dashboards.</a:t>
            </a:r>
            <a:endParaRPr lang="en-US" sz="1450" dirty="0"/>
          </a:p>
        </p:txBody>
      </p:sp>
      <p:sp>
        <p:nvSpPr>
          <p:cNvPr id="9" name="Shape 7"/>
          <p:cNvSpPr/>
          <p:nvPr/>
        </p:nvSpPr>
        <p:spPr>
          <a:xfrm>
            <a:off x="7408188" y="1745337"/>
            <a:ext cx="4771430" cy="2268498"/>
          </a:xfrm>
          <a:prstGeom prst="roundRect">
            <a:avLst>
              <a:gd name="adj" fmla="val 4837"/>
            </a:avLst>
          </a:prstGeom>
          <a:solidFill>
            <a:srgbClr val="242429"/>
          </a:solidFill>
          <a:ln/>
        </p:spPr>
      </p:sp>
      <p:sp>
        <p:nvSpPr>
          <p:cNvPr id="10" name="Shape 8"/>
          <p:cNvSpPr/>
          <p:nvPr/>
        </p:nvSpPr>
        <p:spPr>
          <a:xfrm>
            <a:off x="7408188" y="1722477"/>
            <a:ext cx="4771430" cy="91440"/>
          </a:xfrm>
          <a:prstGeom prst="roundRect">
            <a:avLst>
              <a:gd name="adj" fmla="val 30545"/>
            </a:avLst>
          </a:prstGeom>
          <a:solidFill>
            <a:srgbClr val="FDC4C4"/>
          </a:solidFill>
          <a:ln/>
        </p:spPr>
      </p:sp>
      <p:sp>
        <p:nvSpPr>
          <p:cNvPr id="11" name="Shape 9"/>
          <p:cNvSpPr/>
          <p:nvPr/>
        </p:nvSpPr>
        <p:spPr>
          <a:xfrm>
            <a:off x="9514582" y="1466136"/>
            <a:ext cx="558522" cy="558522"/>
          </a:xfrm>
          <a:prstGeom prst="roundRect">
            <a:avLst>
              <a:gd name="adj" fmla="val 163718"/>
            </a:avLst>
          </a:prstGeom>
          <a:solidFill>
            <a:srgbClr val="FDC4C4"/>
          </a:solidFill>
          <a:ln/>
        </p:spPr>
      </p:sp>
      <p:sp>
        <p:nvSpPr>
          <p:cNvPr id="12" name="Text 10"/>
          <p:cNvSpPr/>
          <p:nvPr/>
        </p:nvSpPr>
        <p:spPr>
          <a:xfrm>
            <a:off x="9682103" y="1605796"/>
            <a:ext cx="223361" cy="279202"/>
          </a:xfrm>
          <a:prstGeom prst="rect">
            <a:avLst/>
          </a:prstGeom>
          <a:noFill/>
          <a:ln/>
        </p:spPr>
        <p:txBody>
          <a:bodyPr wrap="none" lIns="0" tIns="0" rIns="0" bIns="0" rtlCol="0" anchor="t"/>
          <a:lstStyle/>
          <a:p>
            <a:pPr algn="l" indent="0" marL="0">
              <a:lnSpc>
                <a:spcPts val="2800"/>
              </a:lnSpc>
              <a:buNone/>
            </a:pPr>
            <a:r>
              <a:rPr lang="en-US" sz="1750" dirty="0">
                <a:solidFill>
                  <a:srgbClr val="000000"/>
                </a:solidFill>
                <a:latin typeface="Instrument Sans Medium" pitchFamily="34" charset="0"/>
                <a:ea typeface="Instrument Sans Medium" pitchFamily="34" charset="-122"/>
                <a:cs typeface="Instrument Sans Medium" pitchFamily="34" charset="-120"/>
              </a:rPr>
              <a:t>2</a:t>
            </a:r>
            <a:endParaRPr lang="en-US" sz="1750" dirty="0"/>
          </a:p>
        </p:txBody>
      </p:sp>
      <p:sp>
        <p:nvSpPr>
          <p:cNvPr id="13" name="Text 11"/>
          <p:cNvSpPr/>
          <p:nvPr/>
        </p:nvSpPr>
        <p:spPr>
          <a:xfrm>
            <a:off x="7617143" y="2210753"/>
            <a:ext cx="3362920" cy="290870"/>
          </a:xfrm>
          <a:prstGeom prst="rect">
            <a:avLst/>
          </a:prstGeom>
          <a:noFill/>
          <a:ln/>
        </p:spPr>
        <p:txBody>
          <a:bodyPr wrap="none" lIns="0" tIns="0" rIns="0" bIns="0" rtlCol="0" anchor="t"/>
          <a:lstStyle/>
          <a:p>
            <a:pPr algn="l" indent="0" marL="0">
              <a:lnSpc>
                <a:spcPts val="2250"/>
              </a:lnSpc>
              <a:buNone/>
            </a:pPr>
            <a:r>
              <a:rPr lang="en-US" sz="1800" dirty="0">
                <a:solidFill>
                  <a:srgbClr val="C7CDD6"/>
                </a:solidFill>
                <a:latin typeface="Instrument Sans Medium" pitchFamily="34" charset="0"/>
                <a:ea typeface="Instrument Sans Medium" pitchFamily="34" charset="-122"/>
                <a:cs typeface="Instrument Sans Medium" pitchFamily="34" charset="-120"/>
              </a:rPr>
              <a:t>Visual Data &amp; Decision Support</a:t>
            </a:r>
            <a:endParaRPr lang="en-US" sz="1800" dirty="0"/>
          </a:p>
        </p:txBody>
      </p:sp>
      <p:sp>
        <p:nvSpPr>
          <p:cNvPr id="14" name="Text 12"/>
          <p:cNvSpPr/>
          <p:nvPr/>
        </p:nvSpPr>
        <p:spPr>
          <a:xfrm>
            <a:off x="7617143" y="2613303"/>
            <a:ext cx="4353520" cy="1191577"/>
          </a:xfrm>
          <a:prstGeom prst="rect">
            <a:avLst/>
          </a:prstGeom>
          <a:noFill/>
          <a:ln/>
        </p:spPr>
        <p:txBody>
          <a:bodyPr wrap="square" lIns="0" tIns="0" rIns="0" bIns="0" rtlCol="0" anchor="t"/>
          <a:lstStyle/>
          <a:p>
            <a:pPr algn="l" indent="0" marL="0">
              <a:lnSpc>
                <a:spcPts val="2300"/>
              </a:lnSpc>
              <a:buNone/>
            </a:pPr>
            <a:r>
              <a:rPr lang="en-US" sz="1450" dirty="0">
                <a:solidFill>
                  <a:srgbClr val="C7CDD6"/>
                </a:solidFill>
                <a:latin typeface="Inter" pitchFamily="34" charset="0"/>
                <a:ea typeface="Inter" pitchFamily="34" charset="-122"/>
                <a:cs typeface="Inter" pitchFamily="34" charset="-120"/>
              </a:rPr>
              <a:t>We aim to provide comprehensive visual data and robust decision-making support for disaster management teams and environmental monitoring agencies.</a:t>
            </a:r>
            <a:endParaRPr lang="en-US" sz="1450" dirty="0"/>
          </a:p>
        </p:txBody>
      </p:sp>
      <p:sp>
        <p:nvSpPr>
          <p:cNvPr id="15" name="Text 13"/>
          <p:cNvSpPr/>
          <p:nvPr/>
        </p:nvSpPr>
        <p:spPr>
          <a:xfrm>
            <a:off x="2450663" y="4293037"/>
            <a:ext cx="4197787" cy="465534"/>
          </a:xfrm>
          <a:prstGeom prst="rect">
            <a:avLst/>
          </a:prstGeom>
          <a:noFill/>
          <a:ln/>
        </p:spPr>
        <p:txBody>
          <a:bodyPr wrap="none" lIns="0" tIns="0" rIns="0" bIns="0" rtlCol="0" anchor="t"/>
          <a:lstStyle/>
          <a:p>
            <a:pPr algn="l" indent="0" marL="0">
              <a:lnSpc>
                <a:spcPts val="3650"/>
              </a:lnSpc>
              <a:buNone/>
            </a:pPr>
            <a:r>
              <a:rPr lang="en-US" sz="2900" dirty="0">
                <a:solidFill>
                  <a:srgbClr val="EFD5FA"/>
                </a:solidFill>
                <a:latin typeface="Instrument Sans Medium" pitchFamily="34" charset="0"/>
                <a:ea typeface="Instrument Sans Medium" pitchFamily="34" charset="-122"/>
                <a:cs typeface="Instrument Sans Medium" pitchFamily="34" charset="-120"/>
              </a:rPr>
              <a:t>Data Collection Streams</a:t>
            </a:r>
            <a:endParaRPr lang="en-US" sz="2900" dirty="0"/>
          </a:p>
        </p:txBody>
      </p:sp>
      <p:sp>
        <p:nvSpPr>
          <p:cNvPr id="16" name="Text 14"/>
          <p:cNvSpPr/>
          <p:nvPr/>
        </p:nvSpPr>
        <p:spPr>
          <a:xfrm>
            <a:off x="2450663" y="5205293"/>
            <a:ext cx="4637365" cy="893683"/>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C7CDD6"/>
                </a:solidFill>
                <a:latin typeface="Inter" pitchFamily="34" charset="0"/>
                <a:ea typeface="Inter" pitchFamily="34" charset="-122"/>
                <a:cs typeface="Inter" pitchFamily="34" charset="-120"/>
              </a:rPr>
              <a:t>IoT Sensors:</a:t>
            </a:r>
            <a:pPr algn="l" indent="0" marL="0">
              <a:lnSpc>
                <a:spcPts val="2300"/>
              </a:lnSpc>
              <a:buNone/>
            </a:pPr>
            <a:r>
              <a:rPr lang="en-US" sz="1450" dirty="0">
                <a:solidFill>
                  <a:srgbClr val="C7CDD6"/>
                </a:solidFill>
                <a:latin typeface="Inter" pitchFamily="34" charset="0"/>
                <a:ea typeface="Inter" pitchFamily="34" charset="-122"/>
                <a:cs typeface="Inter" pitchFamily="34" charset="-120"/>
              </a:rPr>
              <a:t> Continuously monitor critical environmental parameters like water levels, tides, temperature, and salinity.</a:t>
            </a:r>
            <a:endParaRPr lang="en-US" sz="1450" dirty="0"/>
          </a:p>
        </p:txBody>
      </p:sp>
      <p:sp>
        <p:nvSpPr>
          <p:cNvPr id="17" name="Text 15"/>
          <p:cNvSpPr/>
          <p:nvPr/>
        </p:nvSpPr>
        <p:spPr>
          <a:xfrm>
            <a:off x="2450663" y="6164104"/>
            <a:ext cx="4637365" cy="1191577"/>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C7CDD6"/>
                </a:solidFill>
                <a:latin typeface="Inter" pitchFamily="34" charset="0"/>
                <a:ea typeface="Inter" pitchFamily="34" charset="-122"/>
                <a:cs typeface="Inter" pitchFamily="34" charset="-120"/>
              </a:rPr>
              <a:t>Satellite &amp; Drone Data:</a:t>
            </a:r>
            <a:pPr algn="l" indent="0" marL="0">
              <a:lnSpc>
                <a:spcPts val="2300"/>
              </a:lnSpc>
              <a:buNone/>
            </a:pPr>
            <a:r>
              <a:rPr lang="en-US" sz="1450" dirty="0">
                <a:solidFill>
                  <a:srgbClr val="C7CDD6"/>
                </a:solidFill>
                <a:latin typeface="Inter" pitchFamily="34" charset="0"/>
                <a:ea typeface="Inter" pitchFamily="34" charset="-122"/>
                <a:cs typeface="Inter" pitchFamily="34" charset="-120"/>
              </a:rPr>
              <a:t> Utilize advanced imagery to track storm movements, analyze coastal erosion patterns, and detect instances of illegal dumping from a macro perspective.</a:t>
            </a:r>
            <a:endParaRPr lang="en-US" sz="1450" dirty="0"/>
          </a:p>
        </p:txBody>
      </p:sp>
      <p:sp>
        <p:nvSpPr>
          <p:cNvPr id="18" name="Text 16"/>
          <p:cNvSpPr/>
          <p:nvPr/>
        </p:nvSpPr>
        <p:spPr>
          <a:xfrm>
            <a:off x="7549753" y="5205293"/>
            <a:ext cx="4637365" cy="1191577"/>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C7CDD6"/>
                </a:solidFill>
                <a:latin typeface="Inter" pitchFamily="34" charset="0"/>
                <a:ea typeface="Inter" pitchFamily="34" charset="-122"/>
                <a:cs typeface="Inter" pitchFamily="34" charset="-120"/>
              </a:rPr>
              <a:t>API Integration:</a:t>
            </a:r>
            <a:pPr algn="l" indent="0" marL="0">
              <a:lnSpc>
                <a:spcPts val="2300"/>
              </a:lnSpc>
              <a:buNone/>
            </a:pPr>
            <a:r>
              <a:rPr lang="en-US" sz="1450" dirty="0">
                <a:solidFill>
                  <a:srgbClr val="C7CDD6"/>
                </a:solidFill>
                <a:latin typeface="Inter" pitchFamily="34" charset="0"/>
                <a:ea typeface="Inter" pitchFamily="34" charset="-122"/>
                <a:cs typeface="Inter" pitchFamily="34" charset="-120"/>
              </a:rPr>
              <a:t> Seamlessly integrate with leading weather APIs (e.g., OpenWeatherMap, NOAA) and historical disaster records for enhanced accuracy.</a:t>
            </a:r>
            <a:endParaRPr lang="en-US" sz="1450" dirty="0"/>
          </a:p>
        </p:txBody>
      </p:sp>
      <p:sp>
        <p:nvSpPr>
          <p:cNvPr id="19" name="Text 17"/>
          <p:cNvSpPr/>
          <p:nvPr/>
        </p:nvSpPr>
        <p:spPr>
          <a:xfrm>
            <a:off x="7549753" y="6461998"/>
            <a:ext cx="4637365" cy="1191577"/>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C7CDD6"/>
                </a:solidFill>
                <a:latin typeface="Inter" pitchFamily="34" charset="0"/>
                <a:ea typeface="Inter" pitchFamily="34" charset="-122"/>
                <a:cs typeface="Inter" pitchFamily="34" charset="-120"/>
              </a:rPr>
              <a:t>Community Input:</a:t>
            </a:r>
            <a:pPr algn="l" indent="0" marL="0">
              <a:lnSpc>
                <a:spcPts val="2300"/>
              </a:lnSpc>
              <a:buNone/>
            </a:pPr>
            <a:r>
              <a:rPr lang="en-US" sz="1450" dirty="0">
                <a:solidFill>
                  <a:srgbClr val="C7CDD6"/>
                </a:solidFill>
                <a:latin typeface="Inter" pitchFamily="34" charset="0"/>
                <a:ea typeface="Inter" pitchFamily="34" charset="-122"/>
                <a:cs typeface="Inter" pitchFamily="34" charset="-120"/>
              </a:rPr>
              <a:t> Empower local communities by enabling user reports, fostering engagement and providing invaluable ground-level intelligence.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832265" y="367070"/>
            <a:ext cx="3738205" cy="416481"/>
          </a:xfrm>
          <a:prstGeom prst="rect">
            <a:avLst/>
          </a:prstGeom>
          <a:noFill/>
          <a:ln/>
        </p:spPr>
        <p:txBody>
          <a:bodyPr wrap="none" lIns="0" tIns="0" rIns="0" bIns="0" rtlCol="0" anchor="t"/>
          <a:lstStyle/>
          <a:p>
            <a:pPr algn="l" indent="0" marL="0">
              <a:lnSpc>
                <a:spcPts val="3250"/>
              </a:lnSpc>
              <a:buNone/>
            </a:pPr>
            <a:r>
              <a:rPr lang="en-US" sz="2600" dirty="0">
                <a:solidFill>
                  <a:srgbClr val="EFD5FA"/>
                </a:solidFill>
                <a:latin typeface="Instrument Sans Medium" pitchFamily="34" charset="0"/>
                <a:ea typeface="Instrument Sans Medium" pitchFamily="34" charset="-122"/>
                <a:cs typeface="Instrument Sans Medium" pitchFamily="34" charset="-120"/>
              </a:rPr>
              <a:t>AI/ML Hazard Detection</a:t>
            </a:r>
            <a:endParaRPr lang="en-US" sz="2600" dirty="0"/>
          </a:p>
        </p:txBody>
      </p:sp>
      <p:sp>
        <p:nvSpPr>
          <p:cNvPr id="3" name="Shape 1"/>
          <p:cNvSpPr/>
          <p:nvPr/>
        </p:nvSpPr>
        <p:spPr>
          <a:xfrm>
            <a:off x="7307580" y="1050131"/>
            <a:ext cx="15240" cy="6812399"/>
          </a:xfrm>
          <a:prstGeom prst="roundRect">
            <a:avLst>
              <a:gd name="adj" fmla="val 131220"/>
            </a:avLst>
          </a:prstGeom>
          <a:solidFill>
            <a:srgbClr val="5C5C61"/>
          </a:solidFill>
          <a:ln/>
        </p:spPr>
      </p:sp>
      <p:sp>
        <p:nvSpPr>
          <p:cNvPr id="4" name="Shape 2"/>
          <p:cNvSpPr/>
          <p:nvPr/>
        </p:nvSpPr>
        <p:spPr>
          <a:xfrm>
            <a:off x="3817025" y="1050131"/>
            <a:ext cx="3482935" cy="1663184"/>
          </a:xfrm>
          <a:prstGeom prst="roundRect">
            <a:avLst>
              <a:gd name="adj" fmla="val 1202"/>
            </a:avLst>
          </a:prstGeom>
          <a:solidFill>
            <a:srgbClr val="434348"/>
          </a:solidFill>
          <a:ln/>
        </p:spPr>
      </p:sp>
      <p:sp>
        <p:nvSpPr>
          <p:cNvPr id="5" name="Text 3"/>
          <p:cNvSpPr/>
          <p:nvPr/>
        </p:nvSpPr>
        <p:spPr>
          <a:xfrm>
            <a:off x="5166955" y="1183362"/>
            <a:ext cx="1999774" cy="250031"/>
          </a:xfrm>
          <a:prstGeom prst="rect">
            <a:avLst/>
          </a:prstGeom>
          <a:noFill/>
          <a:ln/>
        </p:spPr>
        <p:txBody>
          <a:bodyPr wrap="none" lIns="0" tIns="0" rIns="0" bIns="0" rtlCol="0" anchor="t"/>
          <a:lstStyle/>
          <a:p>
            <a:pPr algn="r" indent="0" marL="0">
              <a:lnSpc>
                <a:spcPts val="195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Anomaly Detection</a:t>
            </a:r>
            <a:endParaRPr lang="en-US" sz="1550" dirty="0"/>
          </a:p>
        </p:txBody>
      </p:sp>
      <p:sp>
        <p:nvSpPr>
          <p:cNvPr id="6" name="Text 4"/>
          <p:cNvSpPr/>
          <p:nvPr/>
        </p:nvSpPr>
        <p:spPr>
          <a:xfrm>
            <a:off x="3950256" y="1513284"/>
            <a:ext cx="3216473" cy="1066800"/>
          </a:xfrm>
          <a:prstGeom prst="rect">
            <a:avLst/>
          </a:prstGeom>
          <a:noFill/>
          <a:ln/>
        </p:spPr>
        <p:txBody>
          <a:bodyPr wrap="square" lIns="0" tIns="0" rIns="0" bIns="0" rtlCol="0" anchor="t"/>
          <a:lstStyle/>
          <a:p>
            <a:pPr algn="r" indent="0" marL="0">
              <a:lnSpc>
                <a:spcPts val="1650"/>
              </a:lnSpc>
              <a:buNone/>
            </a:pPr>
            <a:r>
              <a:rPr lang="en-US" sz="1000" dirty="0">
                <a:solidFill>
                  <a:srgbClr val="C7CDD6"/>
                </a:solidFill>
                <a:latin typeface="Inter" pitchFamily="34" charset="0"/>
                <a:ea typeface="Inter" pitchFamily="34" charset="-122"/>
                <a:cs typeface="Inter" pitchFamily="34" charset="-120"/>
              </a:rPr>
              <a:t>Our system leverages advanced AI algorithms to identify unusual patterns, such as anomalous sea-level spikes, irregular waste disposal trends, and abnormal storm activities, providing early indications of potential threats.</a:t>
            </a:r>
            <a:endParaRPr lang="en-US" sz="1000" dirty="0"/>
          </a:p>
        </p:txBody>
      </p:sp>
      <p:sp>
        <p:nvSpPr>
          <p:cNvPr id="7" name="Shape 5"/>
          <p:cNvSpPr/>
          <p:nvPr/>
        </p:nvSpPr>
        <p:spPr>
          <a:xfrm>
            <a:off x="7330440" y="2979896"/>
            <a:ext cx="3482935" cy="1449824"/>
          </a:xfrm>
          <a:prstGeom prst="rect">
            <a:avLst/>
          </a:prstGeom>
          <a:solidFill>
            <a:srgbClr val="434348"/>
          </a:solidFill>
          <a:ln/>
        </p:spPr>
      </p:sp>
      <p:sp>
        <p:nvSpPr>
          <p:cNvPr id="8" name="Text 6"/>
          <p:cNvSpPr/>
          <p:nvPr/>
        </p:nvSpPr>
        <p:spPr>
          <a:xfrm>
            <a:off x="7463671" y="3113127"/>
            <a:ext cx="1999774" cy="250031"/>
          </a:xfrm>
          <a:prstGeom prst="rect">
            <a:avLst/>
          </a:prstGeom>
          <a:noFill/>
          <a:ln/>
        </p:spPr>
        <p:txBody>
          <a:bodyPr wrap="none" lIns="0" tIns="0" rIns="0" bIns="0" rtlCol="0" anchor="t"/>
          <a:lstStyle/>
          <a:p>
            <a:pPr algn="l" indent="0" marL="0">
              <a:lnSpc>
                <a:spcPts val="195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Predictive Analytics</a:t>
            </a:r>
            <a:endParaRPr lang="en-US" sz="1550" dirty="0"/>
          </a:p>
        </p:txBody>
      </p:sp>
      <p:sp>
        <p:nvSpPr>
          <p:cNvPr id="9" name="Text 7"/>
          <p:cNvSpPr/>
          <p:nvPr/>
        </p:nvSpPr>
        <p:spPr>
          <a:xfrm>
            <a:off x="7463671" y="3443049"/>
            <a:ext cx="3216473" cy="853440"/>
          </a:xfrm>
          <a:prstGeom prst="rect">
            <a:avLst/>
          </a:prstGeom>
          <a:noFill/>
          <a:ln/>
        </p:spPr>
        <p:txBody>
          <a:bodyPr wrap="square" lIns="0" tIns="0" rIns="0" bIns="0" rtlCol="0" anchor="t"/>
          <a:lstStyle/>
          <a:p>
            <a:pPr algn="l" indent="0" marL="0">
              <a:lnSpc>
                <a:spcPts val="1650"/>
              </a:lnSpc>
              <a:buNone/>
            </a:pPr>
            <a:r>
              <a:rPr lang="en-US" sz="1000" dirty="0">
                <a:solidFill>
                  <a:srgbClr val="C7CDD6"/>
                </a:solidFill>
                <a:latin typeface="Inter" pitchFamily="34" charset="0"/>
                <a:ea typeface="Inter" pitchFamily="34" charset="-122"/>
                <a:cs typeface="Inter" pitchFamily="34" charset="-120"/>
              </a:rPr>
              <a:t>By integrating real-time sensor data with extensive historical records, our predictive models forecast coastal hazards, enabling proactive early warning systems.</a:t>
            </a:r>
            <a:endParaRPr lang="en-US" sz="1000" dirty="0"/>
          </a:p>
        </p:txBody>
      </p:sp>
      <p:sp>
        <p:nvSpPr>
          <p:cNvPr id="10" name="Shape 8"/>
          <p:cNvSpPr/>
          <p:nvPr/>
        </p:nvSpPr>
        <p:spPr>
          <a:xfrm>
            <a:off x="3817025" y="4696301"/>
            <a:ext cx="3482935" cy="1449824"/>
          </a:xfrm>
          <a:prstGeom prst="roundRect">
            <a:avLst>
              <a:gd name="adj" fmla="val 1379"/>
            </a:avLst>
          </a:prstGeom>
          <a:solidFill>
            <a:srgbClr val="434348"/>
          </a:solidFill>
          <a:ln/>
        </p:spPr>
      </p:sp>
      <p:sp>
        <p:nvSpPr>
          <p:cNvPr id="11" name="Text 9"/>
          <p:cNvSpPr/>
          <p:nvPr/>
        </p:nvSpPr>
        <p:spPr>
          <a:xfrm>
            <a:off x="5166955" y="4829532"/>
            <a:ext cx="1999774" cy="250031"/>
          </a:xfrm>
          <a:prstGeom prst="rect">
            <a:avLst/>
          </a:prstGeom>
          <a:noFill/>
          <a:ln/>
        </p:spPr>
        <p:txBody>
          <a:bodyPr wrap="none" lIns="0" tIns="0" rIns="0" bIns="0" rtlCol="0" anchor="t"/>
          <a:lstStyle/>
          <a:p>
            <a:pPr algn="r" indent="0" marL="0">
              <a:lnSpc>
                <a:spcPts val="195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Risk Scoring</a:t>
            </a:r>
            <a:endParaRPr lang="en-US" sz="1550" dirty="0"/>
          </a:p>
        </p:txBody>
      </p:sp>
      <p:sp>
        <p:nvSpPr>
          <p:cNvPr id="12" name="Text 10"/>
          <p:cNvSpPr/>
          <p:nvPr/>
        </p:nvSpPr>
        <p:spPr>
          <a:xfrm>
            <a:off x="3950256" y="5159454"/>
            <a:ext cx="3216473" cy="853440"/>
          </a:xfrm>
          <a:prstGeom prst="rect">
            <a:avLst/>
          </a:prstGeom>
          <a:noFill/>
          <a:ln/>
        </p:spPr>
        <p:txBody>
          <a:bodyPr wrap="square" lIns="0" tIns="0" rIns="0" bIns="0" rtlCol="0" anchor="t"/>
          <a:lstStyle/>
          <a:p>
            <a:pPr algn="r" indent="0" marL="0">
              <a:lnSpc>
                <a:spcPts val="1650"/>
              </a:lnSpc>
              <a:buNone/>
            </a:pPr>
            <a:r>
              <a:rPr lang="en-US" sz="1000" dirty="0">
                <a:solidFill>
                  <a:srgbClr val="C7CDD6"/>
                </a:solidFill>
                <a:latin typeface="Inter" pitchFamily="34" charset="0"/>
                <a:ea typeface="Inter" pitchFamily="34" charset="-122"/>
                <a:cs typeface="Inter" pitchFamily="34" charset="-120"/>
              </a:rPr>
              <a:t>Each potential threat is assigned a clear probability score (High, Medium, Low), allowing authorities to prioritize responses and allocate resources effectively.</a:t>
            </a:r>
            <a:endParaRPr lang="en-US" sz="1000" dirty="0"/>
          </a:p>
        </p:txBody>
      </p:sp>
      <p:sp>
        <p:nvSpPr>
          <p:cNvPr id="13" name="Shape 11"/>
          <p:cNvSpPr/>
          <p:nvPr/>
        </p:nvSpPr>
        <p:spPr>
          <a:xfrm>
            <a:off x="7330440" y="6412706"/>
            <a:ext cx="3482935" cy="1449824"/>
          </a:xfrm>
          <a:prstGeom prst="rect">
            <a:avLst/>
          </a:prstGeom>
          <a:solidFill>
            <a:srgbClr val="434348"/>
          </a:solidFill>
          <a:ln/>
        </p:spPr>
      </p:sp>
      <p:sp>
        <p:nvSpPr>
          <p:cNvPr id="14" name="Text 12"/>
          <p:cNvSpPr/>
          <p:nvPr/>
        </p:nvSpPr>
        <p:spPr>
          <a:xfrm>
            <a:off x="7463671" y="6545937"/>
            <a:ext cx="2006322" cy="250031"/>
          </a:xfrm>
          <a:prstGeom prst="rect">
            <a:avLst/>
          </a:prstGeom>
          <a:noFill/>
          <a:ln/>
        </p:spPr>
        <p:txBody>
          <a:bodyPr wrap="none" lIns="0" tIns="0" rIns="0" bIns="0" rtlCol="0" anchor="t"/>
          <a:lstStyle/>
          <a:p>
            <a:pPr algn="l" indent="0" marL="0">
              <a:lnSpc>
                <a:spcPts val="1950"/>
              </a:lnSpc>
              <a:buNone/>
            </a:pPr>
            <a:r>
              <a:rPr lang="en-US" sz="1550" dirty="0">
                <a:solidFill>
                  <a:srgbClr val="C7CDD6"/>
                </a:solidFill>
                <a:latin typeface="Instrument Sans Medium" pitchFamily="34" charset="0"/>
                <a:ea typeface="Instrument Sans Medium" pitchFamily="34" charset="-122"/>
                <a:cs typeface="Instrument Sans Medium" pitchFamily="34" charset="-120"/>
              </a:rPr>
              <a:t>Automated Oversight</a:t>
            </a:r>
            <a:endParaRPr lang="en-US" sz="1550" dirty="0"/>
          </a:p>
        </p:txBody>
      </p:sp>
      <p:sp>
        <p:nvSpPr>
          <p:cNvPr id="15" name="Text 13"/>
          <p:cNvSpPr/>
          <p:nvPr/>
        </p:nvSpPr>
        <p:spPr>
          <a:xfrm>
            <a:off x="7463671" y="6875859"/>
            <a:ext cx="3216473" cy="853440"/>
          </a:xfrm>
          <a:prstGeom prst="rect">
            <a:avLst/>
          </a:prstGeom>
          <a:noFill/>
          <a:ln/>
        </p:spPr>
        <p:txBody>
          <a:bodyPr wrap="square" lIns="0" tIns="0" rIns="0" bIns="0" rtlCol="0" anchor="t"/>
          <a:lstStyle/>
          <a:p>
            <a:pPr algn="l" indent="0" marL="0">
              <a:lnSpc>
                <a:spcPts val="1650"/>
              </a:lnSpc>
              <a:buNone/>
            </a:pPr>
            <a:r>
              <a:rPr lang="en-US" sz="1000" dirty="0">
                <a:solidFill>
                  <a:srgbClr val="C7CDD6"/>
                </a:solidFill>
                <a:latin typeface="Inter" pitchFamily="34" charset="0"/>
                <a:ea typeface="Inter" pitchFamily="34" charset="-122"/>
                <a:cs typeface="Inter" pitchFamily="34" charset="-120"/>
              </a:rPr>
              <a:t>The system includes automated alerts for relevant authorities, triggered when illegal dumping incidents exceed predefined thresholds, ensuring rapid intervention.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28656" y="598527"/>
            <a:ext cx="9515594" cy="680085"/>
          </a:xfrm>
          <a:prstGeom prst="rect">
            <a:avLst/>
          </a:prstGeom>
          <a:noFill/>
          <a:ln/>
        </p:spPr>
        <p:txBody>
          <a:bodyPr wrap="none" lIns="0" tIns="0" rIns="0" bIns="0" rtlCol="0" anchor="t"/>
          <a:lstStyle/>
          <a:p>
            <a:pPr algn="l" indent="0" marL="0">
              <a:lnSpc>
                <a:spcPts val="5350"/>
              </a:lnSpc>
              <a:buNone/>
            </a:pPr>
            <a:r>
              <a:rPr lang="en-US" sz="4250" dirty="0">
                <a:solidFill>
                  <a:srgbClr val="EFD5FA"/>
                </a:solidFill>
                <a:latin typeface="Instrument Sans Medium" pitchFamily="34" charset="0"/>
                <a:ea typeface="Instrument Sans Medium" pitchFamily="34" charset="-122"/>
                <a:cs typeface="Instrument Sans Medium" pitchFamily="34" charset="-120"/>
              </a:rPr>
              <a:t>Visualization &amp; Alerting Infrastructure</a:t>
            </a:r>
            <a:endParaRPr lang="en-US" sz="4250" dirty="0"/>
          </a:p>
        </p:txBody>
      </p:sp>
      <p:sp>
        <p:nvSpPr>
          <p:cNvPr id="3" name="Text 1"/>
          <p:cNvSpPr/>
          <p:nvPr/>
        </p:nvSpPr>
        <p:spPr>
          <a:xfrm>
            <a:off x="1628656" y="1822728"/>
            <a:ext cx="6611303" cy="1088231"/>
          </a:xfrm>
          <a:prstGeom prst="rect">
            <a:avLst/>
          </a:prstGeom>
          <a:noFill/>
          <a:ln/>
        </p:spPr>
        <p:txBody>
          <a:bodyPr wrap="square" lIns="0" tIns="0" rIns="0" bIns="0" rtlCol="0" anchor="t"/>
          <a:lstStyle/>
          <a:p>
            <a:pPr algn="l" indent="0" marL="0">
              <a:lnSpc>
                <a:spcPts val="4250"/>
              </a:lnSpc>
              <a:buNone/>
            </a:pPr>
            <a:r>
              <a:rPr lang="en-US" sz="3400" dirty="0">
                <a:solidFill>
                  <a:srgbClr val="EFD5FA"/>
                </a:solidFill>
                <a:latin typeface="Instrument Sans Medium" pitchFamily="34" charset="0"/>
                <a:ea typeface="Instrument Sans Medium" pitchFamily="34" charset="-122"/>
                <a:cs typeface="Instrument Sans Medium" pitchFamily="34" charset="-120"/>
              </a:rPr>
              <a:t>The Dashboard: Your Command Center</a:t>
            </a:r>
            <a:endParaRPr lang="en-US" sz="3400" dirty="0"/>
          </a:p>
        </p:txBody>
      </p:sp>
      <p:sp>
        <p:nvSpPr>
          <p:cNvPr id="4" name="Text 2"/>
          <p:cNvSpPr/>
          <p:nvPr/>
        </p:nvSpPr>
        <p:spPr>
          <a:xfrm>
            <a:off x="1628656" y="3128605"/>
            <a:ext cx="6611303" cy="1392555"/>
          </a:xfrm>
          <a:prstGeom prst="rect">
            <a:avLst/>
          </a:prstGeom>
          <a:noFill/>
          <a:ln/>
        </p:spPr>
        <p:txBody>
          <a:bodyPr wrap="square" lIns="0" tIns="0" rIns="0" bIns="0" rtlCol="0" anchor="t"/>
          <a:lstStyle/>
          <a:p>
            <a:pPr algn="l" indent="0" marL="0">
              <a:lnSpc>
                <a:spcPts val="2700"/>
              </a:lnSpc>
              <a:buNone/>
            </a:pPr>
            <a:r>
              <a:rPr lang="en-US" sz="1700" dirty="0">
                <a:solidFill>
                  <a:srgbClr val="C7CDD6"/>
                </a:solidFill>
                <a:latin typeface="Inter" pitchFamily="34" charset="0"/>
                <a:ea typeface="Inter" pitchFamily="34" charset="-122"/>
                <a:cs typeface="Inter" pitchFamily="34" charset="-120"/>
              </a:rPr>
              <a:t>Our intuitive, comprehensive dashboard offers a centralized view of coastal conditions. It features real-time graphs, event logs, and critical metrics, enabling rapid assessment and informed decision-making.</a:t>
            </a:r>
            <a:endParaRPr lang="en-US" sz="1700" dirty="0"/>
          </a:p>
        </p:txBody>
      </p:sp>
      <p:sp>
        <p:nvSpPr>
          <p:cNvPr id="5" name="Text 3"/>
          <p:cNvSpPr/>
          <p:nvPr/>
        </p:nvSpPr>
        <p:spPr>
          <a:xfrm>
            <a:off x="1628656" y="4738807"/>
            <a:ext cx="6611303" cy="1088231"/>
          </a:xfrm>
          <a:prstGeom prst="rect">
            <a:avLst/>
          </a:prstGeom>
          <a:noFill/>
          <a:ln/>
        </p:spPr>
        <p:txBody>
          <a:bodyPr wrap="square" lIns="0" tIns="0" rIns="0" bIns="0" rtlCol="0" anchor="t"/>
          <a:lstStyle/>
          <a:p>
            <a:pPr algn="l" indent="0" marL="0">
              <a:lnSpc>
                <a:spcPts val="4250"/>
              </a:lnSpc>
              <a:buNone/>
            </a:pPr>
            <a:r>
              <a:rPr lang="en-US" sz="3400" dirty="0">
                <a:solidFill>
                  <a:srgbClr val="EFD5FA"/>
                </a:solidFill>
                <a:latin typeface="Instrument Sans Medium" pitchFamily="34" charset="0"/>
                <a:ea typeface="Instrument Sans Medium" pitchFamily="34" charset="-122"/>
                <a:cs typeface="Instrument Sans Medium" pitchFamily="34" charset="-120"/>
              </a:rPr>
              <a:t>Interactive Mapping for Hotspot Analysis</a:t>
            </a:r>
            <a:endParaRPr lang="en-US" sz="3400" dirty="0"/>
          </a:p>
        </p:txBody>
      </p:sp>
      <p:sp>
        <p:nvSpPr>
          <p:cNvPr id="6" name="Text 4"/>
          <p:cNvSpPr/>
          <p:nvPr/>
        </p:nvSpPr>
        <p:spPr>
          <a:xfrm>
            <a:off x="1628656" y="6044684"/>
            <a:ext cx="6611303" cy="1392555"/>
          </a:xfrm>
          <a:prstGeom prst="rect">
            <a:avLst/>
          </a:prstGeom>
          <a:noFill/>
          <a:ln/>
        </p:spPr>
        <p:txBody>
          <a:bodyPr wrap="square" lIns="0" tIns="0" rIns="0" bIns="0" rtlCol="0" anchor="t"/>
          <a:lstStyle/>
          <a:p>
            <a:pPr algn="l" indent="0" marL="0">
              <a:lnSpc>
                <a:spcPts val="2700"/>
              </a:lnSpc>
              <a:buNone/>
            </a:pPr>
            <a:r>
              <a:rPr lang="en-US" sz="1700" dirty="0">
                <a:solidFill>
                  <a:srgbClr val="C7CDD6"/>
                </a:solidFill>
                <a:latin typeface="Inter" pitchFamily="34" charset="0"/>
                <a:ea typeface="Inter" pitchFamily="34" charset="-122"/>
                <a:cs typeface="Inter" pitchFamily="34" charset="-120"/>
              </a:rPr>
              <a:t>Integrated with powerful mapping platforms like Leaflet.js or Mapbox, our system visualizes environmental hotspots and risk zones. This dynamic mapping capability allows stakeholders to pinpoint vulnerable areas with precision.</a:t>
            </a:r>
            <a:endParaRPr lang="en-US" sz="1700" dirty="0"/>
          </a:p>
        </p:txBody>
      </p:sp>
      <p:sp>
        <p:nvSpPr>
          <p:cNvPr id="7" name="Shape 5"/>
          <p:cNvSpPr/>
          <p:nvPr/>
        </p:nvSpPr>
        <p:spPr>
          <a:xfrm>
            <a:off x="8778597" y="1849874"/>
            <a:ext cx="4230529" cy="4687491"/>
          </a:xfrm>
          <a:prstGeom prst="roundRect">
            <a:avLst>
              <a:gd name="adj" fmla="val 3458"/>
            </a:avLst>
          </a:prstGeom>
          <a:solidFill>
            <a:srgbClr val="242429"/>
          </a:solidFill>
          <a:ln w="30480">
            <a:solidFill>
              <a:srgbClr val="5C5C61"/>
            </a:solidFill>
            <a:prstDash val="solid"/>
          </a:ln>
        </p:spPr>
      </p:sp>
      <p:sp>
        <p:nvSpPr>
          <p:cNvPr id="8" name="Shape 6"/>
          <p:cNvSpPr/>
          <p:nvPr/>
        </p:nvSpPr>
        <p:spPr>
          <a:xfrm>
            <a:off x="8748117" y="1849874"/>
            <a:ext cx="121920" cy="4687491"/>
          </a:xfrm>
          <a:prstGeom prst="roundRect">
            <a:avLst>
              <a:gd name="adj" fmla="val 26780"/>
            </a:avLst>
          </a:prstGeom>
          <a:solidFill>
            <a:srgbClr val="FDC4C4"/>
          </a:solidFill>
          <a:ln/>
        </p:spPr>
      </p:sp>
      <p:sp>
        <p:nvSpPr>
          <p:cNvPr id="9" name="Text 7"/>
          <p:cNvSpPr/>
          <p:nvPr/>
        </p:nvSpPr>
        <p:spPr>
          <a:xfrm>
            <a:off x="9118163" y="2098000"/>
            <a:ext cx="2720697" cy="340043"/>
          </a:xfrm>
          <a:prstGeom prst="rect">
            <a:avLst/>
          </a:prstGeom>
          <a:noFill/>
          <a:ln/>
        </p:spPr>
        <p:txBody>
          <a:bodyPr wrap="none" lIns="0" tIns="0" rIns="0" bIns="0" rtlCol="0" anchor="t"/>
          <a:lstStyle/>
          <a:p>
            <a:pPr algn="l" indent="0" marL="0">
              <a:lnSpc>
                <a:spcPts val="2650"/>
              </a:lnSpc>
              <a:buNone/>
            </a:pPr>
            <a:r>
              <a:rPr lang="en-US" sz="2100" dirty="0">
                <a:solidFill>
                  <a:srgbClr val="C7CDD6"/>
                </a:solidFill>
                <a:latin typeface="Instrument Sans Medium" pitchFamily="34" charset="0"/>
                <a:ea typeface="Instrument Sans Medium" pitchFamily="34" charset="-122"/>
                <a:cs typeface="Instrument Sans Medium" pitchFamily="34" charset="-120"/>
              </a:rPr>
              <a:t>Multi-Channel Alerts</a:t>
            </a:r>
            <a:endParaRPr lang="en-US" sz="2100" dirty="0"/>
          </a:p>
        </p:txBody>
      </p:sp>
      <p:sp>
        <p:nvSpPr>
          <p:cNvPr id="10" name="Text 8"/>
          <p:cNvSpPr/>
          <p:nvPr/>
        </p:nvSpPr>
        <p:spPr>
          <a:xfrm>
            <a:off x="9118163" y="2655689"/>
            <a:ext cx="3642836" cy="1392555"/>
          </a:xfrm>
          <a:prstGeom prst="rect">
            <a:avLst/>
          </a:prstGeom>
          <a:noFill/>
          <a:ln/>
        </p:spPr>
        <p:txBody>
          <a:bodyPr wrap="square" lIns="0" tIns="0" rIns="0" bIns="0" rtlCol="0" anchor="t"/>
          <a:lstStyle/>
          <a:p>
            <a:pPr algn="l" marL="342900" indent="-342900">
              <a:lnSpc>
                <a:spcPts val="2700"/>
              </a:lnSpc>
              <a:buSzPct val="100000"/>
              <a:buChar char="•"/>
            </a:pPr>
            <a:r>
              <a:rPr lang="en-US" sz="1700" b="1" dirty="0">
                <a:solidFill>
                  <a:srgbClr val="C7CDD6"/>
                </a:solidFill>
                <a:latin typeface="Inter" pitchFamily="34" charset="0"/>
                <a:ea typeface="Inter" pitchFamily="34" charset="-122"/>
                <a:cs typeface="Inter" pitchFamily="34" charset="-120"/>
              </a:rPr>
              <a:t>SMS &amp; Push Notifications:</a:t>
            </a:r>
            <a:pPr algn="l" indent="0" marL="0">
              <a:lnSpc>
                <a:spcPts val="2700"/>
              </a:lnSpc>
              <a:buNone/>
            </a:pPr>
            <a:r>
              <a:rPr lang="en-US" sz="1700" dirty="0">
                <a:solidFill>
                  <a:srgbClr val="C7CDD6"/>
                </a:solidFill>
                <a:latin typeface="Inter" pitchFamily="34" charset="0"/>
                <a:ea typeface="Inter" pitchFamily="34" charset="-122"/>
                <a:cs typeface="Inter" pitchFamily="34" charset="-120"/>
              </a:rPr>
              <a:t> Direct, instant messaging to authorities and registered users.</a:t>
            </a:r>
            <a:endParaRPr lang="en-US" sz="1700" dirty="0"/>
          </a:p>
        </p:txBody>
      </p:sp>
      <p:sp>
        <p:nvSpPr>
          <p:cNvPr id="11" name="Text 9"/>
          <p:cNvSpPr/>
          <p:nvPr/>
        </p:nvSpPr>
        <p:spPr>
          <a:xfrm>
            <a:off x="9118163" y="4124325"/>
            <a:ext cx="3642836" cy="1044416"/>
          </a:xfrm>
          <a:prstGeom prst="rect">
            <a:avLst/>
          </a:prstGeom>
          <a:noFill/>
          <a:ln/>
        </p:spPr>
        <p:txBody>
          <a:bodyPr wrap="square" lIns="0" tIns="0" rIns="0" bIns="0" rtlCol="0" anchor="t"/>
          <a:lstStyle/>
          <a:p>
            <a:pPr algn="l" marL="342900" indent="-342900">
              <a:lnSpc>
                <a:spcPts val="2700"/>
              </a:lnSpc>
              <a:buSzPct val="100000"/>
              <a:buChar char="•"/>
            </a:pPr>
            <a:r>
              <a:rPr lang="en-US" sz="1700" b="1" dirty="0">
                <a:solidFill>
                  <a:srgbClr val="C7CDD6"/>
                </a:solidFill>
                <a:latin typeface="Inter" pitchFamily="34" charset="0"/>
                <a:ea typeface="Inter" pitchFamily="34" charset="-122"/>
                <a:cs typeface="Inter" pitchFamily="34" charset="-120"/>
              </a:rPr>
              <a:t>Email Reports:</a:t>
            </a:r>
            <a:pPr algn="l" indent="0" marL="0">
              <a:lnSpc>
                <a:spcPts val="2700"/>
              </a:lnSpc>
              <a:buNone/>
            </a:pPr>
            <a:r>
              <a:rPr lang="en-US" sz="1700" dirty="0">
                <a:solidFill>
                  <a:srgbClr val="C7CDD6"/>
                </a:solidFill>
                <a:latin typeface="Inter" pitchFamily="34" charset="0"/>
                <a:ea typeface="Inter" pitchFamily="34" charset="-122"/>
                <a:cs typeface="Inter" pitchFamily="34" charset="-120"/>
              </a:rPr>
              <a:t> Comprehensive incident reports for in-depth analysis and record-keeping.</a:t>
            </a:r>
            <a:endParaRPr lang="en-US" sz="1700" dirty="0"/>
          </a:p>
        </p:txBody>
      </p:sp>
      <p:sp>
        <p:nvSpPr>
          <p:cNvPr id="12" name="Text 10"/>
          <p:cNvSpPr/>
          <p:nvPr/>
        </p:nvSpPr>
        <p:spPr>
          <a:xfrm>
            <a:off x="9118163" y="5244822"/>
            <a:ext cx="3642836" cy="1044416"/>
          </a:xfrm>
          <a:prstGeom prst="rect">
            <a:avLst/>
          </a:prstGeom>
          <a:noFill/>
          <a:ln/>
        </p:spPr>
        <p:txBody>
          <a:bodyPr wrap="square" lIns="0" tIns="0" rIns="0" bIns="0" rtlCol="0" anchor="t"/>
          <a:lstStyle/>
          <a:p>
            <a:pPr algn="l" marL="342900" indent="-342900">
              <a:lnSpc>
                <a:spcPts val="2700"/>
              </a:lnSpc>
              <a:buSzPct val="100000"/>
              <a:buChar char="•"/>
            </a:pPr>
            <a:r>
              <a:rPr lang="en-US" sz="1700" b="1" dirty="0">
                <a:solidFill>
                  <a:srgbClr val="C7CDD6"/>
                </a:solidFill>
                <a:latin typeface="Inter" pitchFamily="34" charset="0"/>
                <a:ea typeface="Inter" pitchFamily="34" charset="-122"/>
                <a:cs typeface="Inter" pitchFamily="34" charset="-120"/>
              </a:rPr>
              <a:t>Visual Signals:</a:t>
            </a:r>
            <a:pPr algn="l" indent="0" marL="0">
              <a:lnSpc>
                <a:spcPts val="2700"/>
              </a:lnSpc>
              <a:buNone/>
            </a:pPr>
            <a:r>
              <a:rPr lang="en-US" sz="1700" dirty="0">
                <a:solidFill>
                  <a:srgbClr val="C7CDD6"/>
                </a:solidFill>
                <a:latin typeface="Inter" pitchFamily="34" charset="0"/>
                <a:ea typeface="Inter" pitchFamily="34" charset="-122"/>
                <a:cs typeface="Inter" pitchFamily="34" charset="-120"/>
              </a:rPr>
              <a:t> Color-coded dashboard warnings provide at-a-glance hazard assessment.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833473" y="471368"/>
            <a:ext cx="5591413" cy="385763"/>
          </a:xfrm>
          <a:prstGeom prst="rect">
            <a:avLst/>
          </a:prstGeom>
          <a:noFill/>
          <a:ln/>
        </p:spPr>
        <p:txBody>
          <a:bodyPr wrap="none" lIns="0" tIns="0" rIns="0" bIns="0" rtlCol="0" anchor="t"/>
          <a:lstStyle/>
          <a:p>
            <a:pPr algn="l" indent="0" marL="0">
              <a:lnSpc>
                <a:spcPts val="3000"/>
              </a:lnSpc>
              <a:buNone/>
            </a:pPr>
            <a:r>
              <a:rPr lang="en-US" sz="2400" dirty="0">
                <a:solidFill>
                  <a:srgbClr val="EFD5FA"/>
                </a:solidFill>
                <a:latin typeface="Instrument Sans Medium" pitchFamily="34" charset="0"/>
                <a:ea typeface="Instrument Sans Medium" pitchFamily="34" charset="-122"/>
                <a:cs typeface="Instrument Sans Medium" pitchFamily="34" charset="-120"/>
              </a:rPr>
              <a:t>Stakeholder Management &amp; Outcomes</a:t>
            </a:r>
            <a:endParaRPr lang="en-US" sz="2400" dirty="0"/>
          </a:p>
        </p:txBody>
      </p:sp>
      <p:sp>
        <p:nvSpPr>
          <p:cNvPr id="4" name="Shape 1"/>
          <p:cNvSpPr/>
          <p:nvPr/>
        </p:nvSpPr>
        <p:spPr>
          <a:xfrm>
            <a:off x="6833473" y="1042273"/>
            <a:ext cx="493752" cy="908685"/>
          </a:xfrm>
          <a:prstGeom prst="roundRect">
            <a:avLst>
              <a:gd name="adj" fmla="val 360017"/>
            </a:avLst>
          </a:prstGeom>
          <a:solidFill>
            <a:srgbClr val="434348"/>
          </a:solidFill>
          <a:ln/>
        </p:spPr>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87778" y="1403985"/>
            <a:ext cx="185142" cy="185142"/>
          </a:xfrm>
          <a:prstGeom prst="rect">
            <a:avLst/>
          </a:prstGeom>
        </p:spPr>
      </p:pic>
      <p:sp>
        <p:nvSpPr>
          <p:cNvPr id="6" name="Text 2"/>
          <p:cNvSpPr/>
          <p:nvPr/>
        </p:nvSpPr>
        <p:spPr>
          <a:xfrm>
            <a:off x="7450574" y="1165622"/>
            <a:ext cx="1543050" cy="192881"/>
          </a:xfrm>
          <a:prstGeom prst="rect">
            <a:avLst/>
          </a:prstGeom>
          <a:noFill/>
          <a:ln/>
        </p:spPr>
        <p:txBody>
          <a:bodyPr wrap="none" lIns="0" tIns="0" rIns="0" bIns="0" rtlCol="0" anchor="t"/>
          <a:lstStyle/>
          <a:p>
            <a:pPr algn="l" indent="0" marL="0">
              <a:lnSpc>
                <a:spcPts val="15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General Users</a:t>
            </a:r>
            <a:endParaRPr lang="en-US" sz="1200" dirty="0"/>
          </a:p>
        </p:txBody>
      </p:sp>
      <p:sp>
        <p:nvSpPr>
          <p:cNvPr id="7" name="Text 3"/>
          <p:cNvSpPr/>
          <p:nvPr/>
        </p:nvSpPr>
        <p:spPr>
          <a:xfrm>
            <a:off x="7450574" y="1432560"/>
            <a:ext cx="5832753" cy="395049"/>
          </a:xfrm>
          <a:prstGeom prst="rect">
            <a:avLst/>
          </a:prstGeom>
          <a:noFill/>
          <a:ln/>
        </p:spPr>
        <p:txBody>
          <a:bodyPr wrap="square" lIns="0" tIns="0" rIns="0" bIns="0" rtlCol="0" anchor="t"/>
          <a:lstStyle/>
          <a:p>
            <a:pPr algn="l" indent="0" marL="0">
              <a:lnSpc>
                <a:spcPts val="1550"/>
              </a:lnSpc>
              <a:buNone/>
            </a:pPr>
            <a:r>
              <a:rPr lang="en-US" sz="950" dirty="0">
                <a:solidFill>
                  <a:srgbClr val="C7CDD6"/>
                </a:solidFill>
                <a:latin typeface="Inter" pitchFamily="34" charset="0"/>
                <a:ea typeface="Inter" pitchFamily="34" charset="-122"/>
                <a:cs typeface="Inter" pitchFamily="34" charset="-120"/>
              </a:rPr>
              <a:t>Receive critical alerts and can actively report hazards, becoming frontline contributors to coastal protection.</a:t>
            </a:r>
            <a:endParaRPr lang="en-US" sz="950" dirty="0"/>
          </a:p>
        </p:txBody>
      </p:sp>
      <p:sp>
        <p:nvSpPr>
          <p:cNvPr id="8" name="Shape 4"/>
          <p:cNvSpPr/>
          <p:nvPr/>
        </p:nvSpPr>
        <p:spPr>
          <a:xfrm>
            <a:off x="6833473" y="2074307"/>
            <a:ext cx="493752" cy="908685"/>
          </a:xfrm>
          <a:prstGeom prst="roundRect">
            <a:avLst>
              <a:gd name="adj" fmla="val 360017"/>
            </a:avLst>
          </a:prstGeom>
          <a:solidFill>
            <a:srgbClr val="434348"/>
          </a:solidFill>
          <a:ln/>
        </p:spPr>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87778" y="2436019"/>
            <a:ext cx="185142" cy="185142"/>
          </a:xfrm>
          <a:prstGeom prst="rect">
            <a:avLst/>
          </a:prstGeom>
        </p:spPr>
      </p:pic>
      <p:sp>
        <p:nvSpPr>
          <p:cNvPr id="10" name="Text 5"/>
          <p:cNvSpPr/>
          <p:nvPr/>
        </p:nvSpPr>
        <p:spPr>
          <a:xfrm>
            <a:off x="7450574" y="2197656"/>
            <a:ext cx="1543050" cy="192881"/>
          </a:xfrm>
          <a:prstGeom prst="rect">
            <a:avLst/>
          </a:prstGeom>
          <a:noFill/>
          <a:ln/>
        </p:spPr>
        <p:txBody>
          <a:bodyPr wrap="none" lIns="0" tIns="0" rIns="0" bIns="0" rtlCol="0" anchor="t"/>
          <a:lstStyle/>
          <a:p>
            <a:pPr algn="l" indent="0" marL="0">
              <a:lnSpc>
                <a:spcPts val="15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Admin/Authorities</a:t>
            </a:r>
            <a:endParaRPr lang="en-US" sz="1200" dirty="0"/>
          </a:p>
        </p:txBody>
      </p:sp>
      <p:sp>
        <p:nvSpPr>
          <p:cNvPr id="11" name="Text 6"/>
          <p:cNvSpPr/>
          <p:nvPr/>
        </p:nvSpPr>
        <p:spPr>
          <a:xfrm>
            <a:off x="7450574" y="2464594"/>
            <a:ext cx="5832753" cy="395049"/>
          </a:xfrm>
          <a:prstGeom prst="rect">
            <a:avLst/>
          </a:prstGeom>
          <a:noFill/>
          <a:ln/>
        </p:spPr>
        <p:txBody>
          <a:bodyPr wrap="square" lIns="0" tIns="0" rIns="0" bIns="0" rtlCol="0" anchor="t"/>
          <a:lstStyle/>
          <a:p>
            <a:pPr algn="l" indent="0" marL="0">
              <a:lnSpc>
                <a:spcPts val="1550"/>
              </a:lnSpc>
              <a:buNone/>
            </a:pPr>
            <a:r>
              <a:rPr lang="en-US" sz="950" dirty="0">
                <a:solidFill>
                  <a:srgbClr val="C7CDD6"/>
                </a:solidFill>
                <a:latin typeface="Inter" pitchFamily="34" charset="0"/>
                <a:ea typeface="Inter" pitchFamily="34" charset="-122"/>
                <a:cs typeface="Inter" pitchFamily="34" charset="-120"/>
              </a:rPr>
              <a:t>Retain full control over user management, report approvals, and overall system configuration, ensuring effective governance.</a:t>
            </a:r>
            <a:endParaRPr lang="en-US" sz="950" dirty="0"/>
          </a:p>
        </p:txBody>
      </p:sp>
      <p:sp>
        <p:nvSpPr>
          <p:cNvPr id="12" name="Shape 7"/>
          <p:cNvSpPr/>
          <p:nvPr/>
        </p:nvSpPr>
        <p:spPr>
          <a:xfrm>
            <a:off x="6833473" y="3106341"/>
            <a:ext cx="493752" cy="908685"/>
          </a:xfrm>
          <a:prstGeom prst="roundRect">
            <a:avLst>
              <a:gd name="adj" fmla="val 360017"/>
            </a:avLst>
          </a:prstGeom>
          <a:solidFill>
            <a:srgbClr val="434348"/>
          </a:solidFill>
          <a:ln/>
        </p:spPr>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87778" y="3468052"/>
            <a:ext cx="185142" cy="185142"/>
          </a:xfrm>
          <a:prstGeom prst="rect">
            <a:avLst/>
          </a:prstGeom>
        </p:spPr>
      </p:pic>
      <p:sp>
        <p:nvSpPr>
          <p:cNvPr id="14" name="Text 8"/>
          <p:cNvSpPr/>
          <p:nvPr/>
        </p:nvSpPr>
        <p:spPr>
          <a:xfrm>
            <a:off x="7450574" y="3229689"/>
            <a:ext cx="1543050" cy="192881"/>
          </a:xfrm>
          <a:prstGeom prst="rect">
            <a:avLst/>
          </a:prstGeom>
          <a:noFill/>
          <a:ln/>
        </p:spPr>
        <p:txBody>
          <a:bodyPr wrap="none" lIns="0" tIns="0" rIns="0" bIns="0" rtlCol="0" anchor="t"/>
          <a:lstStyle/>
          <a:p>
            <a:pPr algn="l" indent="0" marL="0">
              <a:lnSpc>
                <a:spcPts val="15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NGOs</a:t>
            </a:r>
            <a:endParaRPr lang="en-US" sz="1200" dirty="0"/>
          </a:p>
        </p:txBody>
      </p:sp>
      <p:sp>
        <p:nvSpPr>
          <p:cNvPr id="15" name="Text 9"/>
          <p:cNvSpPr/>
          <p:nvPr/>
        </p:nvSpPr>
        <p:spPr>
          <a:xfrm>
            <a:off x="7450574" y="3496627"/>
            <a:ext cx="5832753" cy="395049"/>
          </a:xfrm>
          <a:prstGeom prst="rect">
            <a:avLst/>
          </a:prstGeom>
          <a:noFill/>
          <a:ln/>
        </p:spPr>
        <p:txBody>
          <a:bodyPr wrap="square" lIns="0" tIns="0" rIns="0" bIns="0" rtlCol="0" anchor="t"/>
          <a:lstStyle/>
          <a:p>
            <a:pPr algn="l" indent="0" marL="0">
              <a:lnSpc>
                <a:spcPts val="1550"/>
              </a:lnSpc>
              <a:buNone/>
            </a:pPr>
            <a:r>
              <a:rPr lang="en-US" sz="950" dirty="0">
                <a:solidFill>
                  <a:srgbClr val="C7CDD6"/>
                </a:solidFill>
                <a:latin typeface="Inter" pitchFamily="34" charset="0"/>
                <a:ea typeface="Inter" pitchFamily="34" charset="-122"/>
                <a:cs typeface="Inter" pitchFamily="34" charset="-120"/>
              </a:rPr>
              <a:t>Benefit from dedicated login access to monitor and manage local interventions, optimizing their efforts for community and environmental welfare.</a:t>
            </a:r>
            <a:endParaRPr lang="en-US" sz="950" dirty="0"/>
          </a:p>
        </p:txBody>
      </p:sp>
      <p:sp>
        <p:nvSpPr>
          <p:cNvPr id="16" name="Text 10"/>
          <p:cNvSpPr/>
          <p:nvPr/>
        </p:nvSpPr>
        <p:spPr>
          <a:xfrm>
            <a:off x="6833473" y="4200168"/>
            <a:ext cx="2958941" cy="308610"/>
          </a:xfrm>
          <a:prstGeom prst="rect">
            <a:avLst/>
          </a:prstGeom>
          <a:noFill/>
          <a:ln/>
        </p:spPr>
        <p:txBody>
          <a:bodyPr wrap="none" lIns="0" tIns="0" rIns="0" bIns="0" rtlCol="0" anchor="t"/>
          <a:lstStyle/>
          <a:p>
            <a:pPr algn="l" indent="0" marL="0">
              <a:lnSpc>
                <a:spcPts val="2400"/>
              </a:lnSpc>
              <a:buNone/>
            </a:pPr>
            <a:r>
              <a:rPr lang="en-US" sz="1900" dirty="0">
                <a:solidFill>
                  <a:srgbClr val="EFD5FA"/>
                </a:solidFill>
                <a:latin typeface="Instrument Sans Medium" pitchFamily="34" charset="0"/>
                <a:ea typeface="Instrument Sans Medium" pitchFamily="34" charset="-122"/>
                <a:cs typeface="Instrument Sans Medium" pitchFamily="34" charset="-120"/>
              </a:rPr>
              <a:t>Expected Impact &amp; Vision</a:t>
            </a:r>
            <a:endParaRPr lang="en-US" sz="1900" dirty="0"/>
          </a:p>
        </p:txBody>
      </p:sp>
      <p:sp>
        <p:nvSpPr>
          <p:cNvPr id="17" name="Shape 11"/>
          <p:cNvSpPr/>
          <p:nvPr/>
        </p:nvSpPr>
        <p:spPr>
          <a:xfrm>
            <a:off x="6833473" y="4693920"/>
            <a:ext cx="6449854" cy="939165"/>
          </a:xfrm>
          <a:prstGeom prst="roundRect">
            <a:avLst>
              <a:gd name="adj" fmla="val 1972"/>
            </a:avLst>
          </a:prstGeom>
          <a:solidFill>
            <a:srgbClr val="242429"/>
          </a:solidFill>
          <a:ln w="15240">
            <a:solidFill>
              <a:srgbClr val="5C5C61"/>
            </a:solidFill>
            <a:prstDash val="solid"/>
          </a:ln>
        </p:spPr>
      </p:sp>
      <p:sp>
        <p:nvSpPr>
          <p:cNvPr id="18" name="Text 12"/>
          <p:cNvSpPr/>
          <p:nvPr/>
        </p:nvSpPr>
        <p:spPr>
          <a:xfrm>
            <a:off x="6972062" y="4832509"/>
            <a:ext cx="1651873" cy="192881"/>
          </a:xfrm>
          <a:prstGeom prst="rect">
            <a:avLst/>
          </a:prstGeom>
          <a:noFill/>
          <a:ln/>
        </p:spPr>
        <p:txBody>
          <a:bodyPr wrap="none" lIns="0" tIns="0" rIns="0" bIns="0" rtlCol="0" anchor="t"/>
          <a:lstStyle/>
          <a:p>
            <a:pPr algn="l" indent="0" marL="0">
              <a:lnSpc>
                <a:spcPts val="15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Lives &amp; Property Saved</a:t>
            </a:r>
            <a:endParaRPr lang="en-US" sz="1200" dirty="0"/>
          </a:p>
        </p:txBody>
      </p:sp>
      <p:sp>
        <p:nvSpPr>
          <p:cNvPr id="19" name="Text 13"/>
          <p:cNvSpPr/>
          <p:nvPr/>
        </p:nvSpPr>
        <p:spPr>
          <a:xfrm>
            <a:off x="6972062" y="5099447"/>
            <a:ext cx="6172676" cy="395049"/>
          </a:xfrm>
          <a:prstGeom prst="rect">
            <a:avLst/>
          </a:prstGeom>
          <a:noFill/>
          <a:ln/>
        </p:spPr>
        <p:txBody>
          <a:bodyPr wrap="square" lIns="0" tIns="0" rIns="0" bIns="0" rtlCol="0" anchor="t"/>
          <a:lstStyle/>
          <a:p>
            <a:pPr algn="l" indent="0" marL="0">
              <a:lnSpc>
                <a:spcPts val="1550"/>
              </a:lnSpc>
              <a:buNone/>
            </a:pPr>
            <a:r>
              <a:rPr lang="en-US" sz="950" dirty="0">
                <a:solidFill>
                  <a:srgbClr val="C7CDD6"/>
                </a:solidFill>
                <a:latin typeface="Inter" pitchFamily="34" charset="0"/>
                <a:ea typeface="Inter" pitchFamily="34" charset="-122"/>
                <a:cs typeface="Inter" pitchFamily="34" charset="-120"/>
              </a:rPr>
              <a:t>Enables proactive evacuations and minimizes financial damage through timely warnings and predictive insights.</a:t>
            </a:r>
            <a:endParaRPr lang="en-US" sz="950" dirty="0"/>
          </a:p>
        </p:txBody>
      </p:sp>
      <p:sp>
        <p:nvSpPr>
          <p:cNvPr id="20" name="Shape 14"/>
          <p:cNvSpPr/>
          <p:nvPr/>
        </p:nvSpPr>
        <p:spPr>
          <a:xfrm>
            <a:off x="6833473" y="5756434"/>
            <a:ext cx="6449854" cy="939165"/>
          </a:xfrm>
          <a:prstGeom prst="roundRect">
            <a:avLst>
              <a:gd name="adj" fmla="val 1972"/>
            </a:avLst>
          </a:prstGeom>
          <a:solidFill>
            <a:srgbClr val="242429"/>
          </a:solidFill>
          <a:ln w="15240">
            <a:solidFill>
              <a:srgbClr val="5C5C61"/>
            </a:solidFill>
            <a:prstDash val="solid"/>
          </a:ln>
        </p:spPr>
      </p:sp>
      <p:sp>
        <p:nvSpPr>
          <p:cNvPr id="21" name="Text 15"/>
          <p:cNvSpPr/>
          <p:nvPr/>
        </p:nvSpPr>
        <p:spPr>
          <a:xfrm>
            <a:off x="6972062" y="5895023"/>
            <a:ext cx="2000131" cy="192881"/>
          </a:xfrm>
          <a:prstGeom prst="rect">
            <a:avLst/>
          </a:prstGeom>
          <a:noFill/>
          <a:ln/>
        </p:spPr>
        <p:txBody>
          <a:bodyPr wrap="none" lIns="0" tIns="0" rIns="0" bIns="0" rtlCol="0" anchor="t"/>
          <a:lstStyle/>
          <a:p>
            <a:pPr algn="l" indent="0" marL="0">
              <a:lnSpc>
                <a:spcPts val="15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Environmental Preservation</a:t>
            </a:r>
            <a:endParaRPr lang="en-US" sz="1200" dirty="0"/>
          </a:p>
        </p:txBody>
      </p:sp>
      <p:sp>
        <p:nvSpPr>
          <p:cNvPr id="22" name="Text 16"/>
          <p:cNvSpPr/>
          <p:nvPr/>
        </p:nvSpPr>
        <p:spPr>
          <a:xfrm>
            <a:off x="6972062" y="6161961"/>
            <a:ext cx="6172676" cy="395049"/>
          </a:xfrm>
          <a:prstGeom prst="rect">
            <a:avLst/>
          </a:prstGeom>
          <a:noFill/>
          <a:ln/>
        </p:spPr>
        <p:txBody>
          <a:bodyPr wrap="square" lIns="0" tIns="0" rIns="0" bIns="0" rtlCol="0" anchor="t"/>
          <a:lstStyle/>
          <a:p>
            <a:pPr algn="l" indent="0" marL="0">
              <a:lnSpc>
                <a:spcPts val="1550"/>
              </a:lnSpc>
              <a:buNone/>
            </a:pPr>
            <a:r>
              <a:rPr lang="en-US" sz="950" dirty="0">
                <a:solidFill>
                  <a:srgbClr val="C7CDD6"/>
                </a:solidFill>
                <a:latin typeface="Inter" pitchFamily="34" charset="0"/>
                <a:ea typeface="Inter" pitchFamily="34" charset="-122"/>
                <a:cs typeface="Inter" pitchFamily="34" charset="-120"/>
              </a:rPr>
              <a:t>Safeguards vital coastal ecosystems and prevents pollution through continuous surveillance and rapid intervention capabilities.</a:t>
            </a:r>
            <a:endParaRPr lang="en-US" sz="950" dirty="0"/>
          </a:p>
        </p:txBody>
      </p:sp>
      <p:sp>
        <p:nvSpPr>
          <p:cNvPr id="23" name="Shape 17"/>
          <p:cNvSpPr/>
          <p:nvPr/>
        </p:nvSpPr>
        <p:spPr>
          <a:xfrm>
            <a:off x="6833473" y="6818947"/>
            <a:ext cx="6449854" cy="939165"/>
          </a:xfrm>
          <a:prstGeom prst="roundRect">
            <a:avLst>
              <a:gd name="adj" fmla="val 1972"/>
            </a:avLst>
          </a:prstGeom>
          <a:solidFill>
            <a:srgbClr val="242429"/>
          </a:solidFill>
          <a:ln w="15240">
            <a:solidFill>
              <a:srgbClr val="5C5C61"/>
            </a:solidFill>
            <a:prstDash val="solid"/>
          </a:ln>
        </p:spPr>
      </p:sp>
      <p:sp>
        <p:nvSpPr>
          <p:cNvPr id="24" name="Text 18"/>
          <p:cNvSpPr/>
          <p:nvPr/>
        </p:nvSpPr>
        <p:spPr>
          <a:xfrm>
            <a:off x="6972062" y="6957536"/>
            <a:ext cx="2089190" cy="192881"/>
          </a:xfrm>
          <a:prstGeom prst="rect">
            <a:avLst/>
          </a:prstGeom>
          <a:noFill/>
          <a:ln/>
        </p:spPr>
        <p:txBody>
          <a:bodyPr wrap="none" lIns="0" tIns="0" rIns="0" bIns="0" rtlCol="0" anchor="t"/>
          <a:lstStyle/>
          <a:p>
            <a:pPr algn="l" indent="0" marL="0">
              <a:lnSpc>
                <a:spcPts val="1500"/>
              </a:lnSpc>
              <a:buNone/>
            </a:pPr>
            <a:r>
              <a:rPr lang="en-US" sz="1200" dirty="0">
                <a:solidFill>
                  <a:srgbClr val="C7CDD6"/>
                </a:solidFill>
                <a:latin typeface="Instrument Sans Medium" pitchFamily="34" charset="0"/>
                <a:ea typeface="Instrument Sans Medium" pitchFamily="34" charset="-122"/>
                <a:cs typeface="Instrument Sans Medium" pitchFamily="34" charset="-120"/>
              </a:rPr>
              <a:t>Empowered Decision Making</a:t>
            </a:r>
            <a:endParaRPr lang="en-US" sz="1200" dirty="0"/>
          </a:p>
        </p:txBody>
      </p:sp>
      <p:sp>
        <p:nvSpPr>
          <p:cNvPr id="25" name="Text 19"/>
          <p:cNvSpPr/>
          <p:nvPr/>
        </p:nvSpPr>
        <p:spPr>
          <a:xfrm>
            <a:off x="6972062" y="7224474"/>
            <a:ext cx="6172676" cy="395049"/>
          </a:xfrm>
          <a:prstGeom prst="rect">
            <a:avLst/>
          </a:prstGeom>
          <a:noFill/>
          <a:ln/>
        </p:spPr>
        <p:txBody>
          <a:bodyPr wrap="square" lIns="0" tIns="0" rIns="0" bIns="0" rtlCol="0" anchor="t"/>
          <a:lstStyle/>
          <a:p>
            <a:pPr algn="l" indent="0" marL="0">
              <a:lnSpc>
                <a:spcPts val="1550"/>
              </a:lnSpc>
              <a:buNone/>
            </a:pPr>
            <a:r>
              <a:rPr lang="en-US" sz="950" dirty="0">
                <a:solidFill>
                  <a:srgbClr val="C7CDD6"/>
                </a:solidFill>
                <a:latin typeface="Inter" pitchFamily="34" charset="0"/>
                <a:ea typeface="Inter" pitchFamily="34" charset="-122"/>
                <a:cs typeface="Inter" pitchFamily="34" charset="-120"/>
              </a:rPr>
              <a:t>Provides all stakeholders with actionable, data-driven insights, fostering informed choices and collaborative responses to coastal threats.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